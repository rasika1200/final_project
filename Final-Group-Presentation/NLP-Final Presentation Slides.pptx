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cf9480c01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cf9480c0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cf9480c01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cf9480c0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cf9480c0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cf9480c0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f9480c0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cf9480c0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d1a17058c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d1a17058c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cf9480c01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cf9480c0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cf9480c01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cf9480c0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cf9480c0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cf9480c0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cf9480c0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cf9480c0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d2058638b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d2058638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cf9480c01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cf9480c0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cf9480c01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cf9480c0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d2058638b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d205863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cf9480c01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cf9480c0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cf9480c01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cf9480c0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9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1">
  <p:cSld name="Title Slide - Option 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sign&#10;&#10;Description automatically generated"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50704" y="495088"/>
            <a:ext cx="8389575" cy="24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50704" y="3167505"/>
            <a:ext cx="838957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" type="body"/>
          </p:nvPr>
        </p:nvSpPr>
        <p:spPr>
          <a:xfrm>
            <a:off x="838200" y="1825625"/>
            <a:ext cx="10515600" cy="347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1524000" y="1599247"/>
            <a:ext cx="9143999" cy="1910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Arial"/>
              <a:buNone/>
              <a:defRPr b="1" i="0" sz="5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Areas">
  <p:cSld name="Two Content Area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body"/>
          </p:nvPr>
        </p:nvSpPr>
        <p:spPr>
          <a:xfrm>
            <a:off x="838199" y="1825625"/>
            <a:ext cx="5181599" cy="3434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6172199" y="1825625"/>
            <a:ext cx="5181599" cy="3434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Subtitles">
  <p:cSld name="Two Columns with Subtitle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idx="1" type="body"/>
          </p:nvPr>
        </p:nvSpPr>
        <p:spPr>
          <a:xfrm>
            <a:off x="836612" y="2505075"/>
            <a:ext cx="5176884" cy="2765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6172200" y="1711496"/>
            <a:ext cx="5186362" cy="792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3" type="body"/>
          </p:nvPr>
        </p:nvSpPr>
        <p:spPr>
          <a:xfrm>
            <a:off x="6178505" y="2505075"/>
            <a:ext cx="5180057" cy="2765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4" type="body"/>
          </p:nvPr>
        </p:nvSpPr>
        <p:spPr>
          <a:xfrm>
            <a:off x="836614" y="1712639"/>
            <a:ext cx="5183187" cy="792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57717" y="545091"/>
            <a:ext cx="5393266" cy="4414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6231467" y="545092"/>
            <a:ext cx="5393266" cy="4414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with Caption">
  <p:cSld name="Photo with Ca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>
            <p:ph idx="2" type="pic"/>
          </p:nvPr>
        </p:nvSpPr>
        <p:spPr>
          <a:xfrm rot="344365">
            <a:off x="765923" y="687338"/>
            <a:ext cx="10591524" cy="3491307"/>
          </a:xfrm>
          <a:prstGeom prst="rect">
            <a:avLst/>
          </a:prstGeom>
          <a:solidFill>
            <a:srgbClr val="ECECEC"/>
          </a:solidFill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688489" y="4486019"/>
            <a:ext cx="10816984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- Option 1">
  <p:cSld name="Closing Slide - Option 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water, computer&#10;&#10;Description automatically generated" id="36" name="Google Shape;3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brick&#10;&#10;Description automatically generated" id="37" name="Google Shape;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2">
  <p:cSld name="Title Slide - Option 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bird&#10;&#10;Description automatically generated" id="39" name="Google Shape;3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bird&#10;&#10;Description automatically generated" id="40" name="Google Shape;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type="title"/>
          </p:nvPr>
        </p:nvSpPr>
        <p:spPr>
          <a:xfrm>
            <a:off x="690040" y="1204857"/>
            <a:ext cx="10799595" cy="1910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  <a:defRPr b="1" i="0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99248" y="3324431"/>
            <a:ext cx="1077178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- Option 2">
  <p:cSld name="Closing Slide - Option 2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screenshot, bird&#10;&#10;Description automatically generated"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5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6" name="Google Shape;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jp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screenshot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ctrTitle"/>
          </p:nvPr>
        </p:nvSpPr>
        <p:spPr>
          <a:xfrm>
            <a:off x="3150717" y="1810338"/>
            <a:ext cx="8389500" cy="24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/>
              <a:t>Detecting Sarcasm and Figurative Language in Tweets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1900"/>
              <a:t>DATS 6312 – Natural Language Processing | Final Project Presentation</a:t>
            </a:r>
            <a:endParaRPr sz="1900"/>
          </a:p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3150742" y="4171112"/>
            <a:ext cx="83895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None/>
            </a:pPr>
            <a:r>
              <a:rPr lang="en-US"/>
              <a:t>Team:</a:t>
            </a:r>
            <a:br>
              <a:rPr lang="en-US"/>
            </a:br>
            <a:r>
              <a:rPr lang="en-US"/>
              <a:t>Darsini Lakshmiah (G31629191)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None/>
            </a:pPr>
            <a:r>
              <a:rPr lang="en-US"/>
              <a:t>Hussain Nathani (G36308827)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None/>
            </a:pPr>
            <a:r>
              <a:rPr lang="en-US"/>
              <a:t>Rasika Nilatkar (G28505126)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838200" y="1825625"/>
            <a:ext cx="10515600" cy="347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</a:rPr>
              <a:t>Meaning often contradicts literal words</a:t>
            </a:r>
            <a:endParaRPr sz="24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</a:rPr>
              <a:t>Tweets lack context, tone, facial cues</a:t>
            </a:r>
            <a:endParaRPr sz="24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</a:rPr>
              <a:t>Informal style → emojis, sarcasm, exaggeration</a:t>
            </a:r>
            <a:endParaRPr sz="24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</a:rPr>
              <a:t>Even humans misinterpret sarcasm, irony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Example: “Great, another Monday” → Literal meaning is positive but intent is negative.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Goal: Can NLP models automatically classify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Regular vs. Sarcasm vs. Irony vs. Figurative tweets?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</a:pPr>
            <a:r>
              <a:rPr lang="en-US"/>
              <a:t>Why is figurative language difficult?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572025" y="1825625"/>
            <a:ext cx="3319500" cy="298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Source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Kaggle - 'Tweets with Sarcasm and Irony' dataset. Based on research by Ling &amp; Klinger (2016) analyzing differences between sarcasm and irony.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854412" y="631992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Overview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4436250" y="1718700"/>
            <a:ext cx="33195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Size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81,403 training tweets + 8,119 test tweets. Nearly balanced across four classes: Regular, Sarcasm, Irony, and Figurative.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215550" y="1718700"/>
            <a:ext cx="3319500" cy="2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Annotation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Human-labeled into four mutually exclusive categories. Each tweet annotated for sarcasm, irony, regular and figurative.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838200" y="1825625"/>
            <a:ext cx="10515600" cy="347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Noise &amp; Irrelevance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Emojis, hashtags, mentions, and URLs require careful handling.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Imbalance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Figurative language instances are less frequent than literal.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Subjectivity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Human annotators may disagree on interpretation, leading to ambiguity.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Challenges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Pipeline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854325" y="1923600"/>
            <a:ext cx="4701300" cy="13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Text Cleaning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Removing noise like URLs, mentions, and special characters.</a:t>
            </a:r>
            <a:endParaRPr sz="1800"/>
          </a:p>
        </p:txBody>
      </p:sp>
      <p:sp>
        <p:nvSpPr>
          <p:cNvPr id="79" name="Google Shape;79;p16"/>
          <p:cNvSpPr txBox="1"/>
          <p:nvPr/>
        </p:nvSpPr>
        <p:spPr>
          <a:xfrm>
            <a:off x="6430125" y="1923600"/>
            <a:ext cx="5242800" cy="13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Tokenization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Breaking text into individual words or sub-word units.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854325" y="3605325"/>
            <a:ext cx="4907400" cy="13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Stop Word Removal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Eliminating common words that add little meaning.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6430125" y="3605325"/>
            <a:ext cx="4907400" cy="13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Lemmatization/ Stemming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Reducing words to their base form for consistency.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838200" y="1825625"/>
            <a:ext cx="10515600" cy="392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Most tweets contain </a:t>
            </a:r>
            <a:r>
              <a:rPr b="1" lang="en-US" sz="1700">
                <a:solidFill>
                  <a:schemeClr val="dk1"/>
                </a:solidFill>
              </a:rPr>
              <a:t>4–20 words</a:t>
            </a:r>
            <a:r>
              <a:rPr lang="en-US" sz="1700">
                <a:solidFill>
                  <a:schemeClr val="dk1"/>
                </a:solidFill>
              </a:rPr>
              <a:t>, which aligns with typical tweet behavior.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Contains balanced data </a:t>
            </a:r>
            <a:r>
              <a:rPr lang="en-US" sz="1700">
                <a:solidFill>
                  <a:schemeClr val="dk1"/>
                </a:solidFill>
              </a:rPr>
              <a:t>across</a:t>
            </a:r>
            <a:r>
              <a:rPr lang="en-US" sz="1700">
                <a:solidFill>
                  <a:schemeClr val="dk1"/>
                </a:solidFill>
              </a:rPr>
              <a:t> all four classes.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Exploratory Data Analysis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600" y="1825625"/>
            <a:ext cx="4072626" cy="271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3900" y="1825625"/>
            <a:ext cx="4072626" cy="271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838200" y="510100"/>
            <a:ext cx="10515600" cy="496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Figurative → no distinct lexical identity                                                                               Regular → simple factual statements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Irony → situational contrast                                                                                                Sarcasm → exaggeration, emotional words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0" l="6130" r="7273" t="0"/>
          <a:stretch/>
        </p:blipFill>
        <p:spPr>
          <a:xfrm>
            <a:off x="838200" y="510088"/>
            <a:ext cx="3460324" cy="199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4">
            <a:alphaModFix/>
          </a:blip>
          <a:srcRect b="0" l="5874" r="5786" t="0"/>
          <a:stretch/>
        </p:blipFill>
        <p:spPr>
          <a:xfrm>
            <a:off x="838212" y="2874388"/>
            <a:ext cx="3529776" cy="199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5">
            <a:alphaModFix/>
          </a:blip>
          <a:srcRect b="0" l="5708" r="5929" t="0"/>
          <a:stretch/>
        </p:blipFill>
        <p:spPr>
          <a:xfrm>
            <a:off x="7824000" y="510388"/>
            <a:ext cx="3529800" cy="199731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6">
            <a:alphaModFix/>
          </a:blip>
          <a:srcRect b="0" l="6407" r="6057" t="0"/>
          <a:stretch/>
        </p:blipFill>
        <p:spPr>
          <a:xfrm>
            <a:off x="7824000" y="2865225"/>
            <a:ext cx="3529800" cy="20162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1872525" y="1789825"/>
            <a:ext cx="8446800" cy="83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Traditional ML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Logistic Regression with TF-IDF vectorization to establish an interpretable benchmark.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854337" y="667817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Modelling </a:t>
            </a:r>
            <a:r>
              <a:rPr lang="en-US"/>
              <a:t>Approaches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699875" y="3017525"/>
            <a:ext cx="10483200" cy="83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Deep Learning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BiLSTM using pre-trained GloVe embeddings to capture sequential dependencies and contextual cues.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2111325" y="4245225"/>
            <a:ext cx="7969200" cy="83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Transformer Model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Fine-tuning DistilBERT for deeper semantic understanding of sarcasm and irony.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663187" y="572242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1: Logistic Regression</a:t>
            </a:r>
            <a:endParaRPr/>
          </a:p>
        </p:txBody>
      </p:sp>
      <p:pic>
        <p:nvPicPr>
          <p:cNvPr id="112" name="Google Shape;112;p20" title="confusion_t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3825" y="1279287"/>
            <a:ext cx="5016001" cy="4299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663175" y="1687350"/>
            <a:ext cx="4274400" cy="3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TF-IDF (1–2 grams, 20k features)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Multinomial Logistic Regression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Grid search on C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Fast, interpretable baseline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Strengths: picks up lexical cues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Weakness: loses sequence/context info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2: BiLSTM</a:t>
            </a:r>
            <a:endParaRPr/>
          </a:p>
        </p:txBody>
      </p:sp>
      <p:pic>
        <p:nvPicPr>
          <p:cNvPr id="119" name="Google Shape;119;p21" title="confusion_test_lst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2300" y="889050"/>
            <a:ext cx="5341277" cy="457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854325" y="1690625"/>
            <a:ext cx="5341200" cy="3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Architecture: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Trainable embedding layer (128-dim)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BiLSTM (128 units forward + backward)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Global Max Pooling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Dense (64) + Dropout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Softmax (4 classes)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Why BiLSTM?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Captures sequential patterns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Useful for sarcasm where reversal happens at sentence end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3: DistilBERT</a:t>
            </a:r>
            <a:endParaRPr/>
          </a:p>
        </p:txBody>
      </p:sp>
      <p:pic>
        <p:nvPicPr>
          <p:cNvPr id="126" name="Google Shape;126;p22" title="confusion_test_distilb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2550" y="872200"/>
            <a:ext cx="5337049" cy="4574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854325" y="2088300"/>
            <a:ext cx="5341200" cy="3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Transformer with contextual embeddings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Pre-trained on massive corpora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Fine-tuned for 3 epochs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Max length = 64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Why DistilBERT?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Understands semantics beyond word order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Best suited for subtle figurative meaning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706775" y="1619988"/>
            <a:ext cx="4723200" cy="38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All models converge to ~74–75% accuracy.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Macro-F1 ~0.65 indicates uniform difficulty across models.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Dataset ambiguity (especially figurative class) limits performance.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Overlapping Characteristics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Semantic, Not Statistical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Observation</a:t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075" y="1519625"/>
            <a:ext cx="6195700" cy="408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838200" y="2029125"/>
            <a:ext cx="10515600" cy="30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Tweets without clear cues (no emoji/punctuation) are labeled </a:t>
            </a:r>
            <a:r>
              <a:rPr i="1" lang="en-US" sz="2300">
                <a:solidFill>
                  <a:schemeClr val="dk1"/>
                </a:solidFill>
              </a:rPr>
              <a:t>regular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Very short tweets cause models to default to majority classes.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Mixed-tone tweets (positive words + negative intent) confuse all models.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Models rely too much on keywords, leading to confident but wrong predictions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854412" y="661817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Analysis 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854412" y="151942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Streamlit App Demo</a:t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 rotWithShape="1">
          <a:blip r:embed="rId3">
            <a:alphaModFix/>
          </a:blip>
          <a:srcRect b="0" l="0" r="4122" t="0"/>
          <a:stretch/>
        </p:blipFill>
        <p:spPr>
          <a:xfrm>
            <a:off x="308975" y="1126950"/>
            <a:ext cx="5223775" cy="26997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9100" y="1126950"/>
            <a:ext cx="5223775" cy="2699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4112" y="4014600"/>
            <a:ext cx="5223776" cy="262951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854412" y="151942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Streamlit App Demo</a:t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25" y="1142825"/>
            <a:ext cx="5223799" cy="260484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0650" y="1108475"/>
            <a:ext cx="5223801" cy="267353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4100" y="3974175"/>
            <a:ext cx="5223802" cy="262424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838200" y="1862700"/>
            <a:ext cx="10515600" cy="313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Collect richer and more diverse figurative examples.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Use larger transformer models (RoBERTa/BERT-large).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Include conversation context, emojis, and sentiment cues.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Try multi-task learning (sarcasm + irony + sentiment).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Apply explainability tools to understand model errors.</a:t>
            </a:r>
            <a:endParaRPr sz="2200"/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Work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425925" y="1898550"/>
            <a:ext cx="10911600" cy="30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74.8% accuracy on sarcasm &amp; irony detection across all three models.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Figurative language remains the critical bottleneck, lacks distinct lexical markers.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Modern NLP excels at explicit figurative detection, but implicit meaning requires deeper semantic knowledge.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68" name="Google Shape;168;p28"/>
          <p:cNvSpPr txBox="1"/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